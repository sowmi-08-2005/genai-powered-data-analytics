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98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b="1" dirty="0"/>
              <a:t>Inputs</a:t>
            </a:r>
            <a:r>
              <a:rPr lang="en-GB" sz="1600" dirty="0"/>
              <a:t>: </a:t>
            </a:r>
          </a:p>
          <a:p>
            <a:pPr marL="114300" indent="0">
              <a:buNone/>
            </a:pPr>
            <a:r>
              <a:rPr lang="en-GB" sz="1600" dirty="0"/>
              <a:t>	Collects customer data like demographics, repayment history, and credit usage</a:t>
            </a:r>
          </a:p>
          <a:p>
            <a:r>
              <a:rPr lang="en-GB" sz="1600" b="1" dirty="0"/>
              <a:t>Decision Logic</a:t>
            </a:r>
            <a:r>
              <a:rPr lang="en-GB" sz="1600" dirty="0"/>
              <a:t>: </a:t>
            </a:r>
          </a:p>
          <a:p>
            <a:pPr marL="114300" indent="0">
              <a:buNone/>
            </a:pPr>
            <a:r>
              <a:rPr lang="en-GB" sz="1600" dirty="0"/>
              <a:t>	Uses AI predictions along with business rules to assess risk and decide actions</a:t>
            </a:r>
          </a:p>
          <a:p>
            <a:r>
              <a:rPr lang="en-GB" sz="1600" b="1" dirty="0"/>
              <a:t>Actions</a:t>
            </a:r>
            <a:r>
              <a:rPr lang="en-GB" sz="1600" dirty="0"/>
              <a:t>: </a:t>
            </a:r>
          </a:p>
          <a:p>
            <a:pPr marL="114300" indent="0">
              <a:buNone/>
            </a:pPr>
            <a:r>
              <a:rPr lang="en-GB" sz="1600" dirty="0"/>
              <a:t>	Sends reminders, offers repayment options, or escalates cases when needed</a:t>
            </a:r>
          </a:p>
          <a:p>
            <a:r>
              <a:rPr lang="en-GB" sz="1600" b="1" dirty="0"/>
              <a:t>Learning</a:t>
            </a:r>
            <a:r>
              <a:rPr lang="en-GB" sz="1600" dirty="0"/>
              <a:t>: </a:t>
            </a:r>
          </a:p>
          <a:p>
            <a:pPr marL="114300" indent="0">
              <a:buNone/>
            </a:pPr>
            <a:r>
              <a:rPr lang="en-GB" sz="1600" dirty="0"/>
              <a:t>	Tracks outcomes and continuously improves decisions based on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Automated (AI Driven)</a:t>
            </a:r>
            <a:r>
              <a:rPr lang="en-GB" dirty="0"/>
              <a:t>: </a:t>
            </a:r>
            <a:endParaRPr lang="en-IN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Identifies risk levels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Sends payment reminders automatically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Chooses communication channel and timing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Updates strategies based 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Human-reviewed actions: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Reviews high-risk or sensitive cases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Approves personalized repayment plans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Handles customer disputes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Monitors fairness and system decisions </a:t>
            </a:r>
          </a:p>
          <a:p>
            <a:pPr marL="1054100" lvl="2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Responsible AI Guardrails</a:t>
            </a:r>
            <a:endParaRPr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b="1" dirty="0"/>
              <a:t>Fairness:</a:t>
            </a:r>
            <a:br>
              <a:rPr lang="en-GB" sz="1600" dirty="0"/>
            </a:br>
            <a:r>
              <a:rPr lang="en-GB" sz="1600" dirty="0"/>
              <a:t>	Ensures decisions are unbiased across different customer groups</a:t>
            </a:r>
          </a:p>
          <a:p>
            <a:r>
              <a:rPr lang="en-GB" sz="1600" b="1" dirty="0"/>
              <a:t>Explainability:</a:t>
            </a:r>
            <a:br>
              <a:rPr lang="en-GB" sz="1600" dirty="0"/>
            </a:br>
            <a:r>
              <a:rPr lang="en-GB" sz="1600" dirty="0"/>
              <a:t>	Provides clear reasons for decisions to maintain transparency</a:t>
            </a:r>
          </a:p>
          <a:p>
            <a:r>
              <a:rPr lang="en-GB" sz="1600" b="1" dirty="0"/>
              <a:t>Compliance:</a:t>
            </a:r>
            <a:br>
              <a:rPr lang="en-GB" sz="1600" dirty="0"/>
            </a:br>
            <a:r>
              <a:rPr lang="en-GB" sz="1600" dirty="0"/>
              <a:t>	Follows data privacy and financial regulations</a:t>
            </a:r>
          </a:p>
          <a:p>
            <a:r>
              <a:rPr lang="en-GB" sz="1600" b="1" dirty="0"/>
              <a:t>Human Oversight:</a:t>
            </a:r>
            <a:br>
              <a:rPr lang="en-GB" sz="1600" dirty="0"/>
            </a:br>
            <a:r>
              <a:rPr lang="en-GB" sz="1600" dirty="0"/>
              <a:t>	Involves human review for critical or sensitive decisions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Business Impact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Business KPIs: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Reduced delinquency rates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Increased repayment rates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Lower operational costs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Improved efficiency</a:t>
            </a:r>
            <a:endParaRPr lang="en-IN" sz="1600" b="1" dirty="0"/>
          </a:p>
          <a:p>
            <a:r>
              <a:rPr lang="en-IN" sz="1600" b="1" dirty="0"/>
              <a:t>Customer Outcomes: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Better customer trust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Fair and transparent process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Personalized 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Scalable and consistent service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sz="1600" b="1" dirty="0"/>
          </a:p>
          <a:p>
            <a:pPr marL="114300" indent="0">
              <a:buNone/>
            </a:pPr>
            <a:endParaRPr lang="en-IN" sz="1600" b="1" dirty="0"/>
          </a:p>
          <a:p>
            <a:pPr marL="114300" indent="0">
              <a:buNone/>
            </a:pPr>
            <a:endParaRPr lang="en-IN" sz="1600" b="1" dirty="0"/>
          </a:p>
          <a:p>
            <a:pPr marL="114300" indent="0">
              <a:buNone/>
            </a:pPr>
            <a:endParaRPr lang="en-IN" sz="1600" b="1" dirty="0"/>
          </a:p>
          <a:p>
            <a:pPr marL="596900" lvl="1" indent="0">
              <a:buNone/>
            </a:pPr>
            <a:endParaRPr lang="en-IN" dirty="0"/>
          </a:p>
          <a:p>
            <a:pPr marL="596900" lvl="1" indent="0">
              <a:buNone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GB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114300" indent="0" algn="ctr">
              <a:buNone/>
            </a:pPr>
            <a:r>
              <a:rPr lang="en-GB" dirty="0"/>
              <a:t>Customer Data</a:t>
            </a:r>
          </a:p>
          <a:p>
            <a:pPr marL="114300" indent="0" algn="ctr">
              <a:buNone/>
            </a:pPr>
            <a:r>
              <a:rPr lang="en-GB" dirty="0"/>
              <a:t> ↓</a:t>
            </a:r>
          </a:p>
          <a:p>
            <a:pPr marL="114300" indent="0" algn="ctr">
              <a:buNone/>
            </a:pPr>
            <a:r>
              <a:rPr lang="en-GB" dirty="0"/>
              <a:t>Risk Prediction Model</a:t>
            </a:r>
          </a:p>
          <a:p>
            <a:pPr marL="114300" indent="0" algn="ctr">
              <a:buNone/>
            </a:pPr>
            <a:r>
              <a:rPr lang="en-GB" dirty="0"/>
              <a:t> ↓</a:t>
            </a:r>
          </a:p>
          <a:p>
            <a:pPr marL="114300" indent="0" algn="ctr">
              <a:buNone/>
            </a:pPr>
            <a:r>
              <a:rPr lang="en-GB" dirty="0"/>
              <a:t>Decision Engine</a:t>
            </a:r>
          </a:p>
          <a:p>
            <a:pPr marL="114300" indent="0" algn="ctr">
              <a:buNone/>
            </a:pPr>
            <a:r>
              <a:rPr lang="en-GB" dirty="0"/>
              <a:t> ↓</a:t>
            </a:r>
          </a:p>
          <a:p>
            <a:pPr marL="114300" indent="0" algn="ctr">
              <a:buNone/>
            </a:pPr>
            <a:r>
              <a:rPr lang="en-GB" dirty="0"/>
              <a:t>Actions (Reminders / Plans)</a:t>
            </a:r>
          </a:p>
          <a:p>
            <a:pPr marL="114300" indent="0" algn="ctr">
              <a:buNone/>
            </a:pPr>
            <a:r>
              <a:rPr lang="en-GB" dirty="0"/>
              <a:t> ↓</a:t>
            </a:r>
          </a:p>
          <a:p>
            <a:pPr marL="114300" indent="0" algn="ctr">
              <a:buNone/>
            </a:pPr>
            <a:r>
              <a:rPr lang="en-GB" dirty="0"/>
              <a:t>Customer Response</a:t>
            </a:r>
          </a:p>
          <a:p>
            <a:pPr marL="114300" indent="0" algn="ctr">
              <a:buNone/>
            </a:pPr>
            <a:r>
              <a:rPr lang="en-GB" dirty="0"/>
              <a:t> ↓</a:t>
            </a:r>
          </a:p>
          <a:p>
            <a:pPr marL="114300" indent="0" algn="ctr">
              <a:buNone/>
            </a:pPr>
            <a:r>
              <a:rPr lang="en-GB" dirty="0"/>
              <a:t>Learning System</a:t>
            </a:r>
          </a:p>
          <a:p>
            <a:pPr marL="114300" indent="0" algn="ctr">
              <a:buNone/>
            </a:pPr>
            <a:r>
              <a:rPr lang="en-GB" dirty="0"/>
              <a:t>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462</Words>
  <Application>Microsoft Office PowerPoint</Application>
  <PresentationFormat>On-screen Show (16:9)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</vt:lpstr>
      <vt:lpstr>Roboto Slab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System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Sowmiya Sowmi</cp:lastModifiedBy>
  <cp:revision>4</cp:revision>
  <dcterms:modified xsi:type="dcterms:W3CDTF">2026-04-09T18:05:35Z</dcterms:modified>
</cp:coreProperties>
</file>